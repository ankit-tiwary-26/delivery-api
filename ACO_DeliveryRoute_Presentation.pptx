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539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539"/>
                </a:solidFill>
                <a:latin typeface="Arial"/>
              </a:rPr>
              <a:t>Algorithm Route Distance Comparison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Route Distance</c:v>
                </c:pt>
              </c:strCache>
            </c:strRef>
          </c:tx>
          <c:spPr>
            <a:solidFill>
              <a:srgbClr val="E1575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1575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7A44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838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Random Search</c:v>
                  </c:pt>
                  <c:pt idx="1">
                    <c:v>Greedy (Nearest Neighbour)</c:v>
                  </c:pt>
                  <c:pt idx="2">
                    <c:v>ACO (Ours)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4800</c:v>
                </c:pt>
                <c:pt idx="1">
                  <c:v>4150</c:v>
                </c:pt>
                <c:pt idx="2">
                  <c:v>3847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B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539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539"/>
                </a:solidFill>
                <a:latin typeface="Arial"/>
              </a:rPr>
              <a:t>ACO Convergence Curve (200 iterations)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Distance</c:v>
                </c:pt>
              </c:strCache>
            </c:strRef>
          </c:tx>
          <c:spPr>
            <a:solidFill>
              <a:srgbClr val="00838F"/>
            </a:solidFill>
            <a:ln w="31750" cap="flat">
              <a:solidFill>
                <a:srgbClr val="0083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838F"/>
              </a:solidFill>
              <a:ln w="9525" cap="flat">
                <a:solidFill>
                  <a:srgbClr val="0083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  <c:pt idx="5">
                    <c:v>60</c:v>
                  </c:pt>
                  <c:pt idx="6">
                    <c:v>70</c:v>
                  </c:pt>
                  <c:pt idx="7">
                    <c:v>80</c:v>
                  </c:pt>
                  <c:pt idx="8">
                    <c:v>90</c:v>
                  </c:pt>
                  <c:pt idx="9">
                    <c:v>100</c:v>
                  </c:pt>
                  <c:pt idx="10">
                    <c:v>110</c:v>
                  </c:pt>
                  <c:pt idx="11">
                    <c:v>120</c:v>
                  </c:pt>
                  <c:pt idx="12">
                    <c:v>130</c:v>
                  </c:pt>
                  <c:pt idx="13">
                    <c:v>140</c:v>
                  </c:pt>
                  <c:pt idx="14">
                    <c:v>150</c:v>
                  </c:pt>
                  <c:pt idx="15">
                    <c:v>160</c:v>
                  </c:pt>
                  <c:pt idx="16">
                    <c:v>170</c:v>
                  </c:pt>
                  <c:pt idx="17">
                    <c:v>180</c:v>
                  </c:pt>
                  <c:pt idx="18">
                    <c:v>190</c:v>
                  </c:pt>
                  <c:pt idx="19">
                    <c:v>200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6200</c:v>
                </c:pt>
                <c:pt idx="1">
                  <c:v>5800</c:v>
                </c:pt>
                <c:pt idx="2">
                  <c:v>5400</c:v>
                </c:pt>
                <c:pt idx="3">
                  <c:v>5100</c:v>
                </c:pt>
                <c:pt idx="4">
                  <c:v>4900</c:v>
                </c:pt>
                <c:pt idx="5">
                  <c:v>4700</c:v>
                </c:pt>
                <c:pt idx="6">
                  <c:v>4550</c:v>
                </c:pt>
                <c:pt idx="7">
                  <c:v>4450</c:v>
                </c:pt>
                <c:pt idx="8">
                  <c:v>4350</c:v>
                </c:pt>
                <c:pt idx="9">
                  <c:v>4270</c:v>
                </c:pt>
                <c:pt idx="10">
                  <c:v>4200</c:v>
                </c:pt>
                <c:pt idx="11">
                  <c:v>4150</c:v>
                </c:pt>
                <c:pt idx="12">
                  <c:v>4110</c:v>
                </c:pt>
                <c:pt idx="13">
                  <c:v>4080</c:v>
                </c:pt>
                <c:pt idx="14">
                  <c:v>4040</c:v>
                </c:pt>
                <c:pt idx="15">
                  <c:v>4010</c:v>
                </c:pt>
                <c:pt idx="16">
                  <c:v>3980</c:v>
                </c:pt>
                <c:pt idx="17">
                  <c:v>3960</c:v>
                </c:pt>
                <c:pt idx="18">
                  <c:v>3940</c:v>
                </c:pt>
                <c:pt idx="19">
                  <c:v>3847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Distance</c:v>
                </c:pt>
              </c:strCache>
            </c:strRef>
          </c:tx>
          <c:spPr>
            <a:solidFill>
              <a:srgbClr val="F7A440"/>
            </a:solidFill>
            <a:ln w="31750" cap="flat">
              <a:solidFill>
                <a:srgbClr val="F7A44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7A440"/>
              </a:solidFill>
              <a:ln w="9525" cap="flat">
                <a:solidFill>
                  <a:srgbClr val="F7A44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  <c:pt idx="5">
                    <c:v>60</c:v>
                  </c:pt>
                  <c:pt idx="6">
                    <c:v>70</c:v>
                  </c:pt>
                  <c:pt idx="7">
                    <c:v>80</c:v>
                  </c:pt>
                  <c:pt idx="8">
                    <c:v>90</c:v>
                  </c:pt>
                  <c:pt idx="9">
                    <c:v>100</c:v>
                  </c:pt>
                  <c:pt idx="10">
                    <c:v>110</c:v>
                  </c:pt>
                  <c:pt idx="11">
                    <c:v>120</c:v>
                  </c:pt>
                  <c:pt idx="12">
                    <c:v>130</c:v>
                  </c:pt>
                  <c:pt idx="13">
                    <c:v>140</c:v>
                  </c:pt>
                  <c:pt idx="14">
                    <c:v>150</c:v>
                  </c:pt>
                  <c:pt idx="15">
                    <c:v>160</c:v>
                  </c:pt>
                  <c:pt idx="16">
                    <c:v>170</c:v>
                  </c:pt>
                  <c:pt idx="17">
                    <c:v>180</c:v>
                  </c:pt>
                  <c:pt idx="18">
                    <c:v>190</c:v>
                  </c:pt>
                  <c:pt idx="19">
                    <c:v>200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6900</c:v>
                </c:pt>
                <c:pt idx="1">
                  <c:v>6400</c:v>
                </c:pt>
                <c:pt idx="2">
                  <c:v>6000</c:v>
                </c:pt>
                <c:pt idx="3">
                  <c:v>5700</c:v>
                </c:pt>
                <c:pt idx="4">
                  <c:v>5400</c:v>
                </c:pt>
                <c:pt idx="5">
                  <c:v>5200</c:v>
                </c:pt>
                <c:pt idx="6">
                  <c:v>5050</c:v>
                </c:pt>
                <c:pt idx="7">
                  <c:v>4950</c:v>
                </c:pt>
                <c:pt idx="8">
                  <c:v>4850</c:v>
                </c:pt>
                <c:pt idx="9">
                  <c:v>4750</c:v>
                </c:pt>
                <c:pt idx="10">
                  <c:v>4680</c:v>
                </c:pt>
                <c:pt idx="11">
                  <c:v>4620</c:v>
                </c:pt>
                <c:pt idx="12">
                  <c:v>4580</c:v>
                </c:pt>
                <c:pt idx="13">
                  <c:v>4540</c:v>
                </c:pt>
                <c:pt idx="14">
                  <c:v>4500</c:v>
                </c:pt>
                <c:pt idx="15">
                  <c:v>4470</c:v>
                </c:pt>
                <c:pt idx="16">
                  <c:v>4440</c:v>
                </c:pt>
                <c:pt idx="17">
                  <c:v>4420</c:v>
                </c:pt>
                <c:pt idx="18">
                  <c:v>4400</c:v>
                </c:pt>
                <c:pt idx="19">
                  <c:v>4380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8FB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539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2539"/>
                </a:solidFill>
                <a:latin typeface="Arial"/>
              </a:rPr>
              <a:t>Alpha (α) Effect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Distance</c:v>
                </c:pt>
              </c:strCache>
            </c:strRef>
          </c:tx>
          <c:spPr>
            <a:solidFill>
              <a:srgbClr val="4E79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e79a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83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1575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0.5</c:v>
                  </c:pt>
                  <c:pt idx="1">
                    <c:v>1.0</c:v>
                  </c:pt>
                  <c:pt idx="2">
                    <c:v>2.0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4020</c:v>
                </c:pt>
                <c:pt idx="1">
                  <c:v>3847</c:v>
                </c:pt>
                <c:pt idx="2">
                  <c:v>3980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B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539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2539"/>
                </a:solidFill>
                <a:latin typeface="Arial"/>
              </a:rPr>
              <a:t>Beta (β) Effect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Distance</c:v>
                </c:pt>
              </c:strCache>
            </c:strRef>
          </c:tx>
          <c:spPr>
            <a:solidFill>
              <a:srgbClr val="59A1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9a1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CC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07aa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2.0</c:v>
                  </c:pt>
                  <c:pt idx="1">
                    <c:v>3.0</c:v>
                  </c:pt>
                  <c:pt idx="2">
                    <c:v>5.0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4200</c:v>
                </c:pt>
                <c:pt idx="1">
                  <c:v>3847</c:v>
                </c:pt>
                <c:pt idx="2">
                  <c:v>3920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B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539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2539"/>
                </a:solidFill>
                <a:latin typeface="Arial"/>
              </a:rPr>
              <a:t>Rho (ρ) Effect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Distance</c:v>
                </c:pt>
              </c:strCache>
            </c:strRef>
          </c:tx>
          <c:spPr>
            <a:solidFill>
              <a:srgbClr val="FF9D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9da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ab0a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0.3</c:v>
                  </c:pt>
                  <c:pt idx="1">
                    <c:v>0.5</c:v>
                  </c:pt>
                  <c:pt idx="2">
                    <c:v>0.7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3950</c:v>
                </c:pt>
                <c:pt idx="1">
                  <c:v>3847</c:v>
                </c:pt>
                <c:pt idx="2">
                  <c:v>4050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BFC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539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539"/>
                </a:solidFill>
                <a:latin typeface="Arial"/>
              </a:rPr>
              <a:t>Pheromone Strength Over Iterations (×10⁴)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Max Pheromone</c:v>
                </c:pt>
              </c:strCache>
            </c:strRef>
          </c:tx>
          <c:spPr>
            <a:solidFill>
              <a:srgbClr val="E15759"/>
            </a:solidFill>
            <a:ln w="31750" cap="flat">
              <a:solidFill>
                <a:srgbClr val="E1575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15759"/>
              </a:solidFill>
              <a:ln w="9525" cap="flat">
                <a:solidFill>
                  <a:srgbClr val="E1575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10</c:v>
                  </c:pt>
                  <c:pt idx="2">
                    <c:v>25</c:v>
                  </c:pt>
                  <c:pt idx="3">
                    <c:v>50</c:v>
                  </c:pt>
                  <c:pt idx="4">
                    <c:v>100</c:v>
                  </c:pt>
                  <c:pt idx="5">
                    <c:v>200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45</c:v>
                </c:pt>
                <c:pt idx="2">
                  <c:v>89</c:v>
                </c:pt>
                <c:pt idx="3">
                  <c:v>180</c:v>
                </c:pt>
                <c:pt idx="4">
                  <c:v>320</c:v>
                </c:pt>
                <c:pt idx="5">
                  <c:v>510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Pheromone</c:v>
                </c:pt>
              </c:strCache>
            </c:strRef>
          </c:tx>
          <c:spPr>
            <a:solidFill>
              <a:srgbClr val="00838F"/>
            </a:solidFill>
            <a:ln w="31750" cap="flat">
              <a:solidFill>
                <a:srgbClr val="0083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838F"/>
              </a:solidFill>
              <a:ln w="9525" cap="flat">
                <a:solidFill>
                  <a:srgbClr val="0083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10</c:v>
                  </c:pt>
                  <c:pt idx="2">
                    <c:v>25</c:v>
                  </c:pt>
                  <c:pt idx="3">
                    <c:v>50</c:v>
                  </c:pt>
                  <c:pt idx="4">
                    <c:v>100</c:v>
                  </c:pt>
                  <c:pt idx="5">
                    <c:v>200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</c:v>
                </c:pt>
                <c:pt idx="1">
                  <c:v>11</c:v>
                </c:pt>
                <c:pt idx="2">
                  <c:v>13</c:v>
                </c:pt>
                <c:pt idx="3">
                  <c:v>15</c:v>
                </c:pt>
                <c:pt idx="4">
                  <c:v>18</c:v>
                </c:pt>
                <c:pt idx="5">
                  <c:v>21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8FB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926080"/>
            <a:ext cx="1828800" cy="1828800"/>
          </a:xfrm>
          <a:prstGeom prst="ellipse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3657600"/>
            <a:ext cx="1097280" cy="109728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274320"/>
            <a:ext cx="54864" cy="54864"/>
          </a:xfrm>
          <a:prstGeom prst="ellipse">
            <a:avLst/>
          </a:prstGeom>
          <a:solidFill>
            <a:srgbClr val="00ACC1">
              <a:alpha val="4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03720" y="274320"/>
            <a:ext cx="54864" cy="54864"/>
          </a:xfrm>
          <a:prstGeom prst="ellipse">
            <a:avLst/>
          </a:prstGeom>
          <a:solidFill>
            <a:srgbClr val="00ACC1">
              <a:alpha val="4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0" y="274320"/>
            <a:ext cx="54864" cy="54864"/>
          </a:xfrm>
          <a:prstGeom prst="ellipse">
            <a:avLst/>
          </a:prstGeom>
          <a:solidFill>
            <a:srgbClr val="00ACC1">
              <a:alpha val="4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09560" y="274320"/>
            <a:ext cx="54864" cy="54864"/>
          </a:xfrm>
          <a:prstGeom prst="ellipse">
            <a:avLst/>
          </a:prstGeom>
          <a:solidFill>
            <a:srgbClr val="00ACC1">
              <a:alpha val="4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274320"/>
            <a:ext cx="54864" cy="54864"/>
          </a:xfrm>
          <a:prstGeom prst="ellipse">
            <a:avLst/>
          </a:prstGeom>
          <a:solidFill>
            <a:srgbClr val="00ACC1">
              <a:alpha val="4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005840"/>
            <a:ext cx="54864" cy="54864"/>
          </a:xfrm>
          <a:prstGeom prst="ellipse">
            <a:avLst/>
          </a:prstGeom>
          <a:solidFill>
            <a:srgbClr val="00ACC1">
              <a:alpha val="4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03720" y="1005840"/>
            <a:ext cx="54864" cy="54864"/>
          </a:xfrm>
          <a:prstGeom prst="ellipse">
            <a:avLst/>
          </a:prstGeom>
          <a:solidFill>
            <a:srgbClr val="00ACC1">
              <a:alpha val="4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06640" y="1005840"/>
            <a:ext cx="54864" cy="54864"/>
          </a:xfrm>
          <a:prstGeom prst="ellipse">
            <a:avLst/>
          </a:prstGeom>
          <a:solidFill>
            <a:srgbClr val="00ACC1">
              <a:alpha val="4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09560" y="1005840"/>
            <a:ext cx="54864" cy="54864"/>
          </a:xfrm>
          <a:prstGeom prst="ellipse">
            <a:avLst/>
          </a:prstGeom>
          <a:solidFill>
            <a:srgbClr val="00ACC1">
              <a:alpha val="4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1005840"/>
            <a:ext cx="54864" cy="54864"/>
          </a:xfrm>
          <a:prstGeom prst="ellipse">
            <a:avLst/>
          </a:prstGeom>
          <a:solidFill>
            <a:srgbClr val="00ACC1">
              <a:alpha val="4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1737360"/>
            <a:ext cx="54864" cy="54864"/>
          </a:xfrm>
          <a:prstGeom prst="ellipse">
            <a:avLst/>
          </a:prstGeom>
          <a:solidFill>
            <a:srgbClr val="00ACC1">
              <a:alpha val="4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03720" y="1737360"/>
            <a:ext cx="54864" cy="54864"/>
          </a:xfrm>
          <a:prstGeom prst="ellipse">
            <a:avLst/>
          </a:prstGeom>
          <a:solidFill>
            <a:srgbClr val="00ACC1">
              <a:alpha val="4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06640" y="1737360"/>
            <a:ext cx="54864" cy="54864"/>
          </a:xfrm>
          <a:prstGeom prst="ellipse">
            <a:avLst/>
          </a:prstGeom>
          <a:solidFill>
            <a:srgbClr val="00ACC1">
              <a:alpha val="4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09560" y="1737360"/>
            <a:ext cx="54864" cy="54864"/>
          </a:xfrm>
          <a:prstGeom prst="ellipse">
            <a:avLst/>
          </a:prstGeom>
          <a:solidFill>
            <a:srgbClr val="00ACC1">
              <a:alpha val="4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0" y="1737360"/>
            <a:ext cx="54864" cy="54864"/>
          </a:xfrm>
          <a:prstGeom prst="ellipse">
            <a:avLst/>
          </a:prstGeom>
          <a:solidFill>
            <a:srgbClr val="00ACC1">
              <a:alpha val="4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2468880"/>
            <a:ext cx="54864" cy="54864"/>
          </a:xfrm>
          <a:prstGeom prst="ellipse">
            <a:avLst/>
          </a:prstGeom>
          <a:solidFill>
            <a:srgbClr val="00ACC1">
              <a:alpha val="4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03720" y="2468880"/>
            <a:ext cx="54864" cy="54864"/>
          </a:xfrm>
          <a:prstGeom prst="ellipse">
            <a:avLst/>
          </a:prstGeom>
          <a:solidFill>
            <a:srgbClr val="00ACC1">
              <a:alpha val="4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06640" y="2468880"/>
            <a:ext cx="54864" cy="54864"/>
          </a:xfrm>
          <a:prstGeom prst="ellipse">
            <a:avLst/>
          </a:prstGeom>
          <a:solidFill>
            <a:srgbClr val="00ACC1">
              <a:alpha val="4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09560" y="2468880"/>
            <a:ext cx="54864" cy="54864"/>
          </a:xfrm>
          <a:prstGeom prst="ellipse">
            <a:avLst/>
          </a:prstGeom>
          <a:solidFill>
            <a:srgbClr val="00ACC1">
              <a:alpha val="4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0" y="2468880"/>
            <a:ext cx="54864" cy="54864"/>
          </a:xfrm>
          <a:prstGeom prst="ellipse">
            <a:avLst/>
          </a:prstGeom>
          <a:solidFill>
            <a:srgbClr val="00ACC1">
              <a:alpha val="4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200400"/>
            <a:ext cx="54864" cy="54864"/>
          </a:xfrm>
          <a:prstGeom prst="ellipse">
            <a:avLst/>
          </a:prstGeom>
          <a:solidFill>
            <a:srgbClr val="00ACC1">
              <a:alpha val="4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3720" y="3200400"/>
            <a:ext cx="54864" cy="54864"/>
          </a:xfrm>
          <a:prstGeom prst="ellipse">
            <a:avLst/>
          </a:prstGeom>
          <a:solidFill>
            <a:srgbClr val="00ACC1">
              <a:alpha val="4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06640" y="3200400"/>
            <a:ext cx="54864" cy="54864"/>
          </a:xfrm>
          <a:prstGeom prst="ellipse">
            <a:avLst/>
          </a:prstGeom>
          <a:solidFill>
            <a:srgbClr val="00ACC1">
              <a:alpha val="4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09560" y="3200400"/>
            <a:ext cx="54864" cy="54864"/>
          </a:xfrm>
          <a:prstGeom prst="ellipse">
            <a:avLst/>
          </a:prstGeom>
          <a:solidFill>
            <a:srgbClr val="00ACC1">
              <a:alpha val="4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0" y="3200400"/>
            <a:ext cx="54864" cy="54864"/>
          </a:xfrm>
          <a:prstGeom prst="ellipse">
            <a:avLst/>
          </a:prstGeom>
          <a:solidFill>
            <a:srgbClr val="00ACC1">
              <a:alpha val="4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3931920"/>
            <a:ext cx="54864" cy="54864"/>
          </a:xfrm>
          <a:prstGeom prst="ellipse">
            <a:avLst/>
          </a:prstGeom>
          <a:solidFill>
            <a:srgbClr val="00ACC1">
              <a:alpha val="4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03720" y="3931920"/>
            <a:ext cx="54864" cy="54864"/>
          </a:xfrm>
          <a:prstGeom prst="ellipse">
            <a:avLst/>
          </a:prstGeom>
          <a:solidFill>
            <a:srgbClr val="00ACC1">
              <a:alpha val="4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06640" y="3931920"/>
            <a:ext cx="54864" cy="54864"/>
          </a:xfrm>
          <a:prstGeom prst="ellipse">
            <a:avLst/>
          </a:prstGeom>
          <a:solidFill>
            <a:srgbClr val="00ACC1">
              <a:alpha val="4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09560" y="3931920"/>
            <a:ext cx="54864" cy="54864"/>
          </a:xfrm>
          <a:prstGeom prst="ellipse">
            <a:avLst/>
          </a:prstGeom>
          <a:solidFill>
            <a:srgbClr val="00ACC1">
              <a:alpha val="4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12480" y="3931920"/>
            <a:ext cx="54864" cy="54864"/>
          </a:xfrm>
          <a:prstGeom prst="ellipse">
            <a:avLst/>
          </a:prstGeom>
          <a:solidFill>
            <a:srgbClr val="00ACC1">
              <a:alpha val="4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188720"/>
            <a:ext cx="1280160" cy="91440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411480" y="3657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ACC1"/>
                </a:solidFill>
              </a:rPr>
              <a:t>OPTIMIZATION PROJECT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411480" y="77724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Route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4800" dirty="0"/>
          </a:p>
        </p:txBody>
      </p:sp>
      <p:sp>
        <p:nvSpPr>
          <p:cNvPr id="39" name="Text 36"/>
          <p:cNvSpPr/>
          <p:nvPr/>
        </p:nvSpPr>
        <p:spPr>
          <a:xfrm>
            <a:off x="411480" y="26060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CC1"/>
                </a:solidFill>
              </a:rPr>
              <a:t>Using Ant Colony Optimization (ACO)</a:t>
            </a:r>
            <a:endParaRPr lang="en-US" sz="2000" dirty="0"/>
          </a:p>
        </p:txBody>
      </p:sp>
      <p:sp>
        <p:nvSpPr>
          <p:cNvPr id="40" name="Shape 37"/>
          <p:cNvSpPr/>
          <p:nvPr/>
        </p:nvSpPr>
        <p:spPr>
          <a:xfrm>
            <a:off x="411480" y="3127248"/>
            <a:ext cx="2286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1148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ECDD8"/>
                </a:solidFill>
              </a:rPr>
              <a:t>A Nature-Inspired Metaheuristic Approach to TSP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74320" y="473659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CDD8"/>
                </a:solidFill>
              </a:rPr>
              <a:t>Berlin52 Dataset  |  20 Delivery Nodes  |  ACO Metaheuristic  |  Parameter Tuning  |  Benchmark Analysis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502920" cy="56692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6187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1261872"/>
            <a:ext cx="3931920" cy="566928"/>
          </a:xfrm>
          <a:prstGeom prst="rect">
            <a:avLst/>
          </a:prstGeom>
          <a:solidFill>
            <a:srgbClr val="F0F7FA"/>
          </a:solidFill>
          <a:ln w="12700">
            <a:solidFill>
              <a:srgbClr val="D8EC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9"/>
                </a:solidFill>
              </a:rPr>
              <a:t>Problem Definition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5361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TSP, Logistics Challenge, Motivation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176272"/>
            <a:ext cx="502920" cy="56692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7627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2176272"/>
            <a:ext cx="3931920" cy="566928"/>
          </a:xfrm>
          <a:prstGeom prst="rect">
            <a:avLst/>
          </a:prstGeom>
          <a:solidFill>
            <a:srgbClr val="F0F7FA"/>
          </a:solidFill>
          <a:ln w="12700">
            <a:solidFill>
              <a:srgbClr val="D8E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194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9"/>
                </a:solidFill>
              </a:rPr>
              <a:t>Dataset Overview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4505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Berlin52, 20 Nodes, Coordinates &amp; Demands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3090672"/>
            <a:ext cx="502920" cy="56692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09067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3090672"/>
            <a:ext cx="3931920" cy="566928"/>
          </a:xfrm>
          <a:prstGeom prst="rect">
            <a:avLst/>
          </a:prstGeom>
          <a:solidFill>
            <a:srgbClr val="F0F7FA"/>
          </a:solidFill>
          <a:ln w="12700">
            <a:solidFill>
              <a:srgbClr val="D8EC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108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9"/>
                </a:solidFill>
              </a:rPr>
              <a:t>ACO Algorithm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364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Mechanism, Flowchart, Pheromone Logic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4005072"/>
            <a:ext cx="502920" cy="56692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00507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" y="4005072"/>
            <a:ext cx="3931920" cy="566928"/>
          </a:xfrm>
          <a:prstGeom prst="rect">
            <a:avLst/>
          </a:prstGeom>
          <a:solidFill>
            <a:srgbClr val="F0F7FA"/>
          </a:solidFill>
          <a:ln w="12700">
            <a:solidFill>
              <a:srgbClr val="D8EC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23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9"/>
                </a:solidFill>
              </a:rPr>
              <a:t>Implementation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42793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Parameters, Code Architecture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1261872"/>
            <a:ext cx="502920" cy="56692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26187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212080" y="1261872"/>
            <a:ext cx="3931920" cy="566928"/>
          </a:xfrm>
          <a:prstGeom prst="rect">
            <a:avLst/>
          </a:prstGeom>
          <a:solidFill>
            <a:srgbClr val="F0F7FA"/>
          </a:solidFill>
          <a:ln w="12700">
            <a:solidFill>
              <a:srgbClr val="D8EC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0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9"/>
                </a:solidFill>
              </a:rPr>
              <a:t>Results &amp; Route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03520" y="15361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Optimized Path, Distance Metrics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2176272"/>
            <a:ext cx="502920" cy="56692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17627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212080" y="2176272"/>
            <a:ext cx="3931920" cy="566928"/>
          </a:xfrm>
          <a:prstGeom prst="rect">
            <a:avLst/>
          </a:prstGeom>
          <a:solidFill>
            <a:srgbClr val="F0F7FA"/>
          </a:solidFill>
          <a:ln w="12700">
            <a:solidFill>
              <a:srgbClr val="D8EC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2194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9"/>
                </a:solidFill>
              </a:rPr>
              <a:t>Benchmark Analysis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03520" y="24505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ACO vs Greedy vs Random Search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3090672"/>
            <a:ext cx="502920" cy="56692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09067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12080" y="3090672"/>
            <a:ext cx="3931920" cy="566928"/>
          </a:xfrm>
          <a:prstGeom prst="rect">
            <a:avLst/>
          </a:prstGeom>
          <a:solidFill>
            <a:srgbClr val="F0F7FA"/>
          </a:solidFill>
          <a:ln w="12700">
            <a:solidFill>
              <a:srgbClr val="D8EC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0" y="3108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9"/>
                </a:solidFill>
              </a:rPr>
              <a:t>Advanced Features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03520" y="3364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Priority Routing, Time Windows, Capacity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09160" y="4005072"/>
            <a:ext cx="502920" cy="56692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400507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08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212080" y="4005072"/>
            <a:ext cx="3931920" cy="566928"/>
          </a:xfrm>
          <a:prstGeom prst="rect">
            <a:avLst/>
          </a:prstGeom>
          <a:solidFill>
            <a:srgbClr val="F0F7FA"/>
          </a:solidFill>
          <a:ln w="12700">
            <a:solidFill>
              <a:srgbClr val="D8EC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0" y="4023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9"/>
                </a:solidFill>
              </a:rPr>
              <a:t>Conclusions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03520" y="42793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Key Findings, Improvements, Future Work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PROBLEM DEFINITION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0" y="274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ACC1"/>
                </a:solidFill>
              </a:rPr>
              <a:t>Section 2.1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73152" cy="10058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43000"/>
            <a:ext cx="4754880" cy="1005840"/>
          </a:xfrm>
          <a:prstGeom prst="rect">
            <a:avLst/>
          </a:prstGeom>
          <a:solidFill>
            <a:srgbClr val="F5FAFC"/>
          </a:solidFill>
          <a:ln w="12700">
            <a:solidFill>
              <a:srgbClr val="DCF0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2070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9"/>
                </a:solidFill>
              </a:rPr>
              <a:t>The Core Challenge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49047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Multiple delivery destinations must be visited in minimal time and distance — a complex combinatorial problem that grows exponentially with scale.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377440"/>
            <a:ext cx="73152" cy="1005840"/>
          </a:xfrm>
          <a:prstGeom prst="rect">
            <a:avLst/>
          </a:prstGeom>
          <a:solidFill>
            <a:srgbClr val="F7A440"/>
          </a:solidFill>
          <a:ln w="12700">
            <a:solidFill>
              <a:srgbClr val="F7A4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2377440"/>
            <a:ext cx="4754880" cy="1005840"/>
          </a:xfrm>
          <a:prstGeom prst="rect">
            <a:avLst/>
          </a:prstGeom>
          <a:solidFill>
            <a:srgbClr val="F5FAFC"/>
          </a:solidFill>
          <a:ln w="12700">
            <a:solidFill>
              <a:srgbClr val="DCF0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4414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9"/>
                </a:solidFill>
              </a:rPr>
              <a:t>TSP Complexity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72491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Modeled as a Traveling Salesman Problem variant: computationally intractable (NP-Hard). With just 20 nodes, there are over 10¹⁷ possible routes to evaluate.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611880"/>
            <a:ext cx="73152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3611880"/>
            <a:ext cx="4754880" cy="1005840"/>
          </a:xfrm>
          <a:prstGeom prst="rect">
            <a:avLst/>
          </a:prstGeom>
          <a:solidFill>
            <a:srgbClr val="F5FAFC"/>
          </a:solidFill>
          <a:ln w="12700">
            <a:solidFill>
              <a:srgbClr val="DCF0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36758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9"/>
                </a:solidFill>
              </a:rPr>
              <a:t>Why ACO?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95935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Ant Colony Optimization is a nature-inspired metaheuristic that mimics ant foraging behavior. It efficiently explores large solution spaces and converges to near-optimal solutions through collective learning.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0" y="1143000"/>
            <a:ext cx="3383280" cy="3657600"/>
          </a:xfrm>
          <a:prstGeom prst="rect">
            <a:avLst/>
          </a:prstGeom>
          <a:solidFill>
            <a:srgbClr val="F0F7FA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77840" y="12070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539"/>
                </a:solidFill>
              </a:rPr>
              <a:t>TSP Route Complexity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1828800"/>
            <a:ext cx="1463040" cy="91440"/>
          </a:xfrm>
          <a:prstGeom prst="line">
            <a:avLst/>
          </a:prstGeom>
          <a:noFill/>
          <a:ln w="15240">
            <a:solidFill>
              <a:srgbClr val="B0D8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0" y="1920240"/>
            <a:ext cx="457200" cy="731520"/>
          </a:xfrm>
          <a:prstGeom prst="line">
            <a:avLst/>
          </a:prstGeom>
          <a:noFill/>
          <a:ln w="15240">
            <a:solidFill>
              <a:srgbClr val="B0D8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2480" y="2651760"/>
            <a:ext cx="-640080" cy="731520"/>
          </a:xfrm>
          <a:prstGeom prst="line">
            <a:avLst/>
          </a:prstGeom>
          <a:noFill/>
          <a:ln w="15240">
            <a:solidFill>
              <a:srgbClr val="B0D8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0" y="3383280"/>
            <a:ext cx="-822960" cy="457200"/>
          </a:xfrm>
          <a:prstGeom prst="line">
            <a:avLst/>
          </a:prstGeom>
          <a:noFill/>
          <a:ln w="15240">
            <a:solidFill>
              <a:srgbClr val="B0D8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49440" y="3840480"/>
            <a:ext cx="-1005840" cy="-365760"/>
          </a:xfrm>
          <a:prstGeom prst="line">
            <a:avLst/>
          </a:prstGeom>
          <a:noFill/>
          <a:ln w="15240">
            <a:solidFill>
              <a:srgbClr val="B0D8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3474720"/>
            <a:ext cx="-182880" cy="-914400"/>
          </a:xfrm>
          <a:prstGeom prst="line">
            <a:avLst/>
          </a:prstGeom>
          <a:noFill/>
          <a:ln w="15240">
            <a:solidFill>
              <a:srgbClr val="B0D8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60720" y="2560320"/>
            <a:ext cx="731520" cy="-731520"/>
          </a:xfrm>
          <a:prstGeom prst="line">
            <a:avLst/>
          </a:prstGeom>
          <a:noFill/>
          <a:ln w="15240">
            <a:solidFill>
              <a:srgbClr val="B0D8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0" y="1828800"/>
            <a:ext cx="1280160" cy="1554480"/>
          </a:xfrm>
          <a:prstGeom prst="line">
            <a:avLst/>
          </a:prstGeom>
          <a:noFill/>
          <a:ln w="15240">
            <a:solidFill>
              <a:srgbClr val="B0D8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55280" y="1920240"/>
            <a:ext cx="-2011680" cy="1554480"/>
          </a:xfrm>
          <a:prstGeom prst="line">
            <a:avLst/>
          </a:prstGeom>
          <a:noFill/>
          <a:ln w="15240">
            <a:solidFill>
              <a:srgbClr val="B0D8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12480" y="2651760"/>
            <a:ext cx="-2651760" cy="-91440"/>
          </a:xfrm>
          <a:prstGeom prst="line">
            <a:avLst/>
          </a:prstGeom>
          <a:noFill/>
          <a:ln w="15240">
            <a:solidFill>
              <a:srgbClr val="B0D8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0" y="3383280"/>
            <a:ext cx="-640080" cy="-548640"/>
          </a:xfrm>
          <a:prstGeom prst="line">
            <a:avLst/>
          </a:prstGeom>
          <a:noFill/>
          <a:ln w="15240">
            <a:solidFill>
              <a:srgbClr val="B0D8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49440" y="3840480"/>
            <a:ext cx="182880" cy="-1005840"/>
          </a:xfrm>
          <a:prstGeom prst="line">
            <a:avLst/>
          </a:prstGeom>
          <a:noFill/>
          <a:ln w="15240">
            <a:solidFill>
              <a:srgbClr val="B0D8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0" y="2834640"/>
            <a:ext cx="-640080" cy="-1005840"/>
          </a:xfrm>
          <a:prstGeom prst="line">
            <a:avLst/>
          </a:prstGeom>
          <a:noFill/>
          <a:ln w="15240">
            <a:solidFill>
              <a:srgbClr val="B0D8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92240" y="1828800"/>
            <a:ext cx="1463040" cy="91440"/>
          </a:xfrm>
          <a:prstGeom prst="line">
            <a:avLst/>
          </a:prstGeom>
          <a:noFill/>
          <a:ln w="31750">
            <a:solidFill>
              <a:srgbClr val="00838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55280" y="1920240"/>
            <a:ext cx="457200" cy="731520"/>
          </a:xfrm>
          <a:prstGeom prst="line">
            <a:avLst/>
          </a:prstGeom>
          <a:noFill/>
          <a:ln w="31750">
            <a:solidFill>
              <a:srgbClr val="00838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12480" y="2651760"/>
            <a:ext cx="-640080" cy="731520"/>
          </a:xfrm>
          <a:prstGeom prst="line">
            <a:avLst/>
          </a:prstGeom>
          <a:noFill/>
          <a:ln w="31750">
            <a:solidFill>
              <a:srgbClr val="00838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0" y="3383280"/>
            <a:ext cx="-822960" cy="457200"/>
          </a:xfrm>
          <a:prstGeom prst="line">
            <a:avLst/>
          </a:prstGeom>
          <a:noFill/>
          <a:ln w="31750">
            <a:solidFill>
              <a:srgbClr val="00838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49440" y="3840480"/>
            <a:ext cx="-1005840" cy="-365760"/>
          </a:xfrm>
          <a:prstGeom prst="line">
            <a:avLst/>
          </a:prstGeom>
          <a:noFill/>
          <a:ln w="31750">
            <a:solidFill>
              <a:srgbClr val="00838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43600" y="3474720"/>
            <a:ext cx="-182880" cy="-914400"/>
          </a:xfrm>
          <a:prstGeom prst="line">
            <a:avLst/>
          </a:prstGeom>
          <a:noFill/>
          <a:ln w="31750">
            <a:solidFill>
              <a:srgbClr val="00838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60720" y="2560320"/>
            <a:ext cx="731520" cy="-731520"/>
          </a:xfrm>
          <a:prstGeom prst="line">
            <a:avLst/>
          </a:prstGeom>
          <a:noFill/>
          <a:ln w="31750">
            <a:solidFill>
              <a:srgbClr val="00838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64224" y="1700784"/>
            <a:ext cx="256032" cy="256032"/>
          </a:xfrm>
          <a:prstGeom prst="ellipse">
            <a:avLst/>
          </a:prstGeom>
          <a:solidFill>
            <a:srgbClr val="0083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64224" y="1700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827264" y="1792224"/>
            <a:ext cx="256032" cy="256032"/>
          </a:xfrm>
          <a:prstGeom prst="ellipse">
            <a:avLst/>
          </a:prstGeom>
          <a:solidFill>
            <a:srgbClr val="F7A4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27264" y="1792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8284464" y="2523744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84464" y="2523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644384" y="3255264"/>
            <a:ext cx="256032" cy="256032"/>
          </a:xfrm>
          <a:prstGeom prst="ellipse">
            <a:avLst/>
          </a:prstGeom>
          <a:solidFill>
            <a:srgbClr val="E1575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44384" y="3255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821424" y="3712464"/>
            <a:ext cx="256032" cy="256032"/>
          </a:xfrm>
          <a:prstGeom prst="ellipse">
            <a:avLst/>
          </a:prstGeom>
          <a:solidFill>
            <a:srgbClr val="0083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21424" y="3712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815584" y="3346704"/>
            <a:ext cx="256032" cy="256032"/>
          </a:xfrm>
          <a:prstGeom prst="ellipse">
            <a:avLst/>
          </a:prstGeom>
          <a:solidFill>
            <a:srgbClr val="F7A4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15584" y="3346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632704" y="2432304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32704" y="2432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004304" y="2706624"/>
            <a:ext cx="256032" cy="256032"/>
          </a:xfrm>
          <a:prstGeom prst="ellipse">
            <a:avLst/>
          </a:prstGeom>
          <a:solidFill>
            <a:srgbClr val="E1575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04304" y="2706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577840" y="425196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46E7A"/>
                </a:solidFill>
              </a:rPr>
              <a:t>Optimal path through all nodes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546E7A"/>
                </a:solidFill>
              </a:rPr>
              <a:t>with minimum total distance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800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CC1"/>
                </a:solidFill>
              </a:rPr>
              <a:t>20  Delivery Nodes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2651760" y="4800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CC1"/>
                </a:solidFill>
              </a:rPr>
              <a:t>10¹⁷  Possible Routes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846320" y="4800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CC1"/>
                </a:solidFill>
              </a:rPr>
              <a:t>NP-Hard  Complexity Class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040880" y="4800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CC1"/>
                </a:solidFill>
              </a:rPr>
              <a:t>ACO  Our Solution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DATASET OVERVIEW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0" y="2560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ACC1"/>
                </a:solidFill>
              </a:rPr>
              <a:t>Berlin52 TSPLIB — 20-Node Subset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1920240" cy="10972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7043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20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200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F0F0"/>
                </a:solidFill>
              </a:rPr>
              <a:t>Delivery Nodes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41448" y="1115568"/>
            <a:ext cx="1920240" cy="1097280"/>
          </a:xfrm>
          <a:prstGeom prst="rect">
            <a:avLst/>
          </a:prstGeom>
          <a:solidFill>
            <a:srgbClr val="F7A440"/>
          </a:solidFill>
          <a:ln w="12700">
            <a:solidFill>
              <a:srgbClr val="F7A4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888" y="117043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87168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175 kg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2487168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F0F0"/>
                </a:solidFill>
              </a:rPr>
              <a:t>Total Demand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08576" y="1115568"/>
            <a:ext cx="1920240" cy="1097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16" y="1170432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54296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4654296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F0F0"/>
                </a:solidFill>
              </a:rPr>
              <a:t>Priority Levels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775704" y="1115568"/>
            <a:ext cx="1920240" cy="1097280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144" y="1170432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21424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12 hrs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6821424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F0F0"/>
                </a:solidFill>
              </a:rPr>
              <a:t>Time Window Span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331720"/>
          <a:ext cx="8595360" cy="2560320"/>
        </p:xfrm>
        <a:graphic>
          <a:graphicData uri="http://schemas.openxmlformats.org/drawingml/2006/table">
            <a:tbl>
              <a:tblPr/>
              <a:tblGrid>
                <a:gridCol w="502920"/>
                <a:gridCol w="2011680"/>
                <a:gridCol w="1097280"/>
                <a:gridCol w="1005840"/>
                <a:gridCol w="15544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Node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Location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Demand (kg)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Time Window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9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9"/>
                          </a:solidFill>
                        </a:rPr>
                        <a:t>Central Depot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9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8F"/>
                          </a:solidFill>
                        </a:rPr>
                        <a:t>Depot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9"/>
                          </a:solidFill>
                        </a:rPr>
                        <a:t>06:00–18:00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9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9"/>
                          </a:solidFill>
                        </a:rPr>
                        <a:t>Depot-North Hub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9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9"/>
                          </a:solidFill>
                        </a:rPr>
                        <a:t>08:00–10:00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9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9"/>
                          </a:solidFill>
                        </a:rPr>
                        <a:t>Mitte District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9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7E22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9"/>
                          </a:solidFill>
                        </a:rPr>
                        <a:t>09:00–12:00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9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9"/>
                          </a:solidFill>
                        </a:rPr>
                        <a:t>Prenzlauer Berg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9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9"/>
                          </a:solidFill>
                        </a:rPr>
                        <a:t>07:00–09:00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9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9"/>
                          </a:solidFill>
                        </a:rPr>
                        <a:t>Friedrichshain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9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7E22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9"/>
                          </a:solidFill>
                        </a:rPr>
                        <a:t>10:00–13:00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9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9"/>
                          </a:solidFill>
                        </a:rPr>
                        <a:t>Kreuzberg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9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9"/>
                          </a:solidFill>
                        </a:rPr>
                        <a:t>11:00–14:00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9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9"/>
                          </a:solidFill>
                        </a:rPr>
                        <a:t>Neukölln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9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9"/>
                          </a:solidFill>
                        </a:rPr>
                        <a:t>07:00–09:00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9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9"/>
                          </a:solidFill>
                        </a:rPr>
                        <a:t>Tempelhof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9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7E22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9"/>
                          </a:solidFill>
                        </a:rPr>
                        <a:t>09:00–12:00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9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9"/>
                          </a:solidFill>
                        </a:rPr>
                        <a:t>Schöneberg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9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9"/>
                          </a:solidFill>
                        </a:rPr>
                        <a:t>11:00–14:00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9"/>
                          </a:solidFill>
                        </a:rPr>
                        <a:t>...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9"/>
                          </a:solidFill>
                        </a:rPr>
                        <a:t>... (11 more)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9"/>
                          </a:solidFill>
                        </a:rPr>
                        <a:t>...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9"/>
                          </a:solidFill>
                        </a:rPr>
                        <a:t>...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9"/>
                          </a:solidFill>
                        </a:rPr>
                        <a:t>...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ACO ALGORITHM — HOW IT WORKS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560320" cy="38404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START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54480" y="1481328"/>
            <a:ext cx="0" cy="91440"/>
          </a:xfrm>
          <a:prstGeom prst="line">
            <a:avLst/>
          </a:prstGeom>
          <a:noFill/>
          <a:ln w="19050">
            <a:solidFill>
              <a:srgbClr val="0083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572768"/>
            <a:ext cx="2560320" cy="384048"/>
          </a:xfrm>
          <a:prstGeom prst="rect">
            <a:avLst/>
          </a:prstGeom>
          <a:solidFill>
            <a:srgbClr val="F0F7FA"/>
          </a:solidFill>
          <a:ln w="12700">
            <a:solidFill>
              <a:srgbClr val="C5E0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5727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39"/>
                </a:solidFill>
              </a:rPr>
              <a:t>Initialize Pheromone Matrix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39"/>
                </a:solidFill>
              </a:rPr>
              <a:t>(uniform distribution)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554480" y="1956816"/>
            <a:ext cx="0" cy="73152"/>
          </a:xfrm>
          <a:prstGeom prst="line">
            <a:avLst/>
          </a:prstGeom>
          <a:noFill/>
          <a:ln w="19050">
            <a:solidFill>
              <a:srgbClr val="0083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029968"/>
            <a:ext cx="2560320" cy="38404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029968"/>
            <a:ext cx="16459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70048" y="2029968"/>
            <a:ext cx="16459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0299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For Each Iteration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554480" y="2414016"/>
            <a:ext cx="0" cy="73152"/>
          </a:xfrm>
          <a:prstGeom prst="line">
            <a:avLst/>
          </a:prstGeom>
          <a:noFill/>
          <a:ln w="19050">
            <a:solidFill>
              <a:srgbClr val="0083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487168"/>
            <a:ext cx="2560320" cy="384048"/>
          </a:xfrm>
          <a:prstGeom prst="rect">
            <a:avLst/>
          </a:prstGeom>
          <a:solidFill>
            <a:srgbClr val="F0F7FA"/>
          </a:solidFill>
          <a:ln w="12700">
            <a:solidFill>
              <a:srgbClr val="C5E0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24871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39"/>
                </a:solidFill>
              </a:rPr>
              <a:t>Each Ant Builds a Tour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39"/>
                </a:solidFill>
              </a:rPr>
              <a:t>(probabilistic selection)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554480" y="2871216"/>
            <a:ext cx="0" cy="27432"/>
          </a:xfrm>
          <a:prstGeom prst="line">
            <a:avLst/>
          </a:prstGeom>
          <a:noFill/>
          <a:ln w="19050">
            <a:solidFill>
              <a:srgbClr val="00838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898648"/>
            <a:ext cx="2560320" cy="384048"/>
          </a:xfrm>
          <a:prstGeom prst="rect">
            <a:avLst/>
          </a:prstGeom>
          <a:solidFill>
            <a:srgbClr val="F0F7FA"/>
          </a:solidFill>
          <a:ln w="12700">
            <a:solidFill>
              <a:srgbClr val="C5E0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" y="28986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39"/>
                </a:solidFill>
              </a:rPr>
              <a:t>Evaluate Tour Distances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554480" y="3282696"/>
            <a:ext cx="0" cy="27432"/>
          </a:xfrm>
          <a:prstGeom prst="line">
            <a:avLst/>
          </a:prstGeom>
          <a:noFill/>
          <a:ln w="19050">
            <a:solidFill>
              <a:srgbClr val="00838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310128"/>
            <a:ext cx="2560320" cy="384048"/>
          </a:xfrm>
          <a:prstGeom prst="rect">
            <a:avLst/>
          </a:prstGeom>
          <a:solidFill>
            <a:srgbClr val="F7A440"/>
          </a:solidFill>
          <a:ln w="12700">
            <a:solidFill>
              <a:srgbClr val="F7A4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310128"/>
            <a:ext cx="16459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70048" y="3310128"/>
            <a:ext cx="16459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3101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Update Best Solution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554480" y="3694176"/>
            <a:ext cx="0" cy="27432"/>
          </a:xfrm>
          <a:prstGeom prst="line">
            <a:avLst/>
          </a:prstGeom>
          <a:noFill/>
          <a:ln w="19050">
            <a:solidFill>
              <a:srgbClr val="00838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721608"/>
            <a:ext cx="2560320" cy="384048"/>
          </a:xfrm>
          <a:prstGeom prst="rect">
            <a:avLst/>
          </a:prstGeom>
          <a:solidFill>
            <a:srgbClr val="F0F7FA"/>
          </a:solidFill>
          <a:ln w="12700">
            <a:solidFill>
              <a:srgbClr val="C5E0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0040" y="37216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39"/>
                </a:solidFill>
              </a:rPr>
              <a:t>Evaporate + Deposit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39"/>
                </a:solidFill>
              </a:rPr>
              <a:t>Pheromones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554480" y="4105656"/>
            <a:ext cx="0" cy="73152"/>
          </a:xfrm>
          <a:prstGeom prst="line">
            <a:avLst/>
          </a:prstGeom>
          <a:noFill/>
          <a:ln w="19050">
            <a:solidFill>
              <a:srgbClr val="00838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4178808"/>
            <a:ext cx="25603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4178808"/>
            <a:ext cx="16459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70048" y="4178808"/>
            <a:ext cx="16459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1788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Convergence Reached?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554480" y="4562856"/>
            <a:ext cx="0" cy="73152"/>
          </a:xfrm>
          <a:prstGeom prst="line">
            <a:avLst/>
          </a:prstGeom>
          <a:noFill/>
          <a:ln w="19050">
            <a:solidFill>
              <a:srgbClr val="00838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4636008"/>
            <a:ext cx="2560320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6360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OUTPUT: Best Route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834640" y="4370832"/>
            <a:ext cx="365760" cy="0"/>
          </a:xfrm>
          <a:prstGeom prst="line">
            <a:avLst/>
          </a:prstGeom>
          <a:noFill/>
          <a:ln w="19050">
            <a:solidFill>
              <a:srgbClr val="E1575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370832"/>
            <a:ext cx="0" cy="-2148840"/>
          </a:xfrm>
          <a:prstGeom prst="line">
            <a:avLst/>
          </a:prstGeom>
          <a:noFill/>
          <a:ln w="19050">
            <a:solidFill>
              <a:srgbClr val="E1575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0" y="2221992"/>
            <a:ext cx="-365760" cy="0"/>
          </a:xfrm>
          <a:prstGeom prst="line">
            <a:avLst/>
          </a:prstGeom>
          <a:noFill/>
          <a:ln w="19050">
            <a:solidFill>
              <a:srgbClr val="E1575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26080" y="408736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15759"/>
                </a:solidFill>
              </a:rPr>
              <a:t>No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325880" y="45720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9A14F"/>
                </a:solidFill>
              </a:rPr>
              <a:t>Yes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429000" y="1143000"/>
            <a:ext cx="54864" cy="84124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83864" y="1143000"/>
            <a:ext cx="5394960" cy="841248"/>
          </a:xfrm>
          <a:prstGeom prst="rect">
            <a:avLst/>
          </a:prstGeom>
          <a:solidFill>
            <a:srgbClr val="F5FAFC"/>
          </a:solidFill>
          <a:ln w="12700">
            <a:solidFill>
              <a:srgbClr val="D8EE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611880" y="119786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9"/>
                </a:solidFill>
              </a:rPr>
              <a:t>🐜 Pheromone Trails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611880" y="1472184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Ants deposit chemical pheromones on good paths. Stronger trails attract more ants, creating a positive feedback loop toward optimal solutions.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429000" y="2130552"/>
            <a:ext cx="54864" cy="841248"/>
          </a:xfrm>
          <a:prstGeom prst="rect">
            <a:avLst/>
          </a:prstGeom>
          <a:solidFill>
            <a:srgbClr val="F7A440"/>
          </a:solidFill>
          <a:ln w="12700">
            <a:solidFill>
              <a:srgbClr val="F7A44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483864" y="2130552"/>
            <a:ext cx="5394960" cy="841248"/>
          </a:xfrm>
          <a:prstGeom prst="rect">
            <a:avLst/>
          </a:prstGeom>
          <a:solidFill>
            <a:srgbClr val="F5FAFC"/>
          </a:solidFill>
          <a:ln w="12700">
            <a:solidFill>
              <a:srgbClr val="D8EE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611880" y="218541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9"/>
                </a:solidFill>
              </a:rPr>
              <a:t>📐 Probability Selection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611880" y="2459736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P(i→j) ∝ τᵢⱼᵅ × ηᵢⱼᵝ  where τ=pheromone level, η=heuristic (1/distance), α=pheromone weight, β=heuristic weight.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429000" y="3118104"/>
            <a:ext cx="54864" cy="8412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83864" y="3118104"/>
            <a:ext cx="5394960" cy="841248"/>
          </a:xfrm>
          <a:prstGeom prst="rect">
            <a:avLst/>
          </a:prstGeom>
          <a:solidFill>
            <a:srgbClr val="F5FAFC"/>
          </a:solidFill>
          <a:ln w="12700">
            <a:solidFill>
              <a:srgbClr val="D8EE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3611880" y="317296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9"/>
                </a:solidFill>
              </a:rPr>
              <a:t>💨 Evaporation (ρ)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3611880" y="3447288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Pheromones evaporate over time, preventing early convergence to suboptimal paths. τ_new = (1-ρ)×τ_old + Δτ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429000" y="4105656"/>
            <a:ext cx="54864" cy="8412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483864" y="4105656"/>
            <a:ext cx="5394960" cy="841248"/>
          </a:xfrm>
          <a:prstGeom prst="rect">
            <a:avLst/>
          </a:prstGeom>
          <a:solidFill>
            <a:srgbClr val="F5FAFC"/>
          </a:solidFill>
          <a:ln w="12700">
            <a:solidFill>
              <a:srgbClr val="D8EE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3611880" y="41605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9"/>
                </a:solidFill>
              </a:rPr>
              <a:t>🏆 Elitist Strategy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3611880" y="4434840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Best-so-far solution receives extra pheromone reinforcement (elite_factor × Q/best_dist), accelerating convergence.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ACO PARAMETERS &amp; CONFIGURATION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1737360"/>
          </a:xfrm>
          <a:prstGeom prst="rect">
            <a:avLst/>
          </a:prstGeom>
          <a:solidFill>
            <a:srgbClr val="162235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743200" cy="6400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i="1" dirty="0">
                <a:solidFill>
                  <a:srgbClr val="00838F"/>
                </a:solidFill>
              </a:rPr>
              <a:t>α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2148840" y="1280160"/>
            <a:ext cx="731520" cy="3657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1280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1.0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32588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C4D8"/>
                </a:solidFill>
              </a:rPr>
              <a:t>Alpha (Pheromone Importance)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1560" y="162763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D8B"/>
                </a:solidFill>
              </a:rPr>
              <a:t>Range: 0.5 – 2.0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1947672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B8"/>
                </a:solidFill>
              </a:rPr>
              <a:t>Controls how strongly ants follow existing pheromone trails. Higher α = more exploitation.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18688" y="1143000"/>
            <a:ext cx="2743200" cy="1737360"/>
          </a:xfrm>
          <a:prstGeom prst="rect">
            <a:avLst/>
          </a:prstGeom>
          <a:solidFill>
            <a:srgbClr val="162235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1143000"/>
            <a:ext cx="2743200" cy="64008"/>
          </a:xfrm>
          <a:prstGeom prst="rect">
            <a:avLst/>
          </a:prstGeom>
          <a:solidFill>
            <a:srgbClr val="F7A440"/>
          </a:solidFill>
          <a:ln w="12700">
            <a:solidFill>
              <a:srgbClr val="F7A4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i="1" dirty="0">
                <a:solidFill>
                  <a:srgbClr val="F7A440"/>
                </a:solidFill>
              </a:rPr>
              <a:t>β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5093208" y="1280160"/>
            <a:ext cx="731520" cy="365760"/>
          </a:xfrm>
          <a:prstGeom prst="rect">
            <a:avLst/>
          </a:prstGeom>
          <a:solidFill>
            <a:srgbClr val="F7A440"/>
          </a:solidFill>
          <a:ln w="12700">
            <a:solidFill>
              <a:srgbClr val="F7A4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1280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3.0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95928" y="132588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C4D8"/>
                </a:solidFill>
              </a:rPr>
              <a:t>Beta (Heuristic Importance)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95928" y="162763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D8B"/>
                </a:solidFill>
              </a:rPr>
              <a:t>Range: 2.0 – 5.0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10128" y="1947672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B8"/>
                </a:solidFill>
              </a:rPr>
              <a:t>Controls distance preference. Higher β = ants prefer shorter edges more strongly.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63056" y="1143000"/>
            <a:ext cx="2743200" cy="1737360"/>
          </a:xfrm>
          <a:prstGeom prst="rect">
            <a:avLst/>
          </a:prstGeom>
          <a:solidFill>
            <a:srgbClr val="162235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63056" y="1143000"/>
            <a:ext cx="27432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54496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i="1" dirty="0">
                <a:solidFill>
                  <a:srgbClr val="02C39A"/>
                </a:solidFill>
              </a:rPr>
              <a:t>ρ</a:t>
            </a:r>
            <a:endParaRPr lang="en-US" sz="3400" dirty="0"/>
          </a:p>
        </p:txBody>
      </p:sp>
      <p:sp>
        <p:nvSpPr>
          <p:cNvPr id="24" name="Shape 22"/>
          <p:cNvSpPr/>
          <p:nvPr/>
        </p:nvSpPr>
        <p:spPr>
          <a:xfrm>
            <a:off x="8037576" y="1280160"/>
            <a:ext cx="73152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37576" y="1280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0.5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0296" y="132588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C4D8"/>
                </a:solidFill>
              </a:rPr>
              <a:t>Rho (Evaporation Rate)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40296" y="162763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D8B"/>
                </a:solidFill>
              </a:rPr>
              <a:t>Range: 0.3 – 0.7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254496" y="1947672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B8"/>
                </a:solidFill>
              </a:rPr>
              <a:t>Rate at which pheromones evaporate. Higher ρ = faster forgetting = more exploration.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063240"/>
            <a:ext cx="2743200" cy="1737360"/>
          </a:xfrm>
          <a:prstGeom prst="rect">
            <a:avLst/>
          </a:prstGeom>
          <a:solidFill>
            <a:srgbClr val="162235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63240"/>
            <a:ext cx="2743200" cy="64008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i="1" dirty="0">
                <a:solidFill>
                  <a:srgbClr val="7B68EE"/>
                </a:solidFill>
              </a:rPr>
              <a:t>Q</a:t>
            </a:r>
            <a:endParaRPr lang="en-US" sz="3400" dirty="0"/>
          </a:p>
        </p:txBody>
      </p:sp>
      <p:sp>
        <p:nvSpPr>
          <p:cNvPr id="32" name="Shape 30"/>
          <p:cNvSpPr/>
          <p:nvPr/>
        </p:nvSpPr>
        <p:spPr>
          <a:xfrm>
            <a:off x="2148840" y="3200400"/>
            <a:ext cx="731520" cy="36576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48840" y="3200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100.0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51560" y="324612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C4D8"/>
                </a:solidFill>
              </a:rPr>
              <a:t>Q (Pheromone Constant)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51560" y="354787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D8B"/>
                </a:solidFill>
              </a:rPr>
              <a:t>Range: Fixed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65760" y="3867912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B8"/>
                </a:solidFill>
              </a:rPr>
              <a:t>Scales pheromone deposit amount. Deposit = Q / route_distance for each ant.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18688" y="3063240"/>
            <a:ext cx="2743200" cy="1737360"/>
          </a:xfrm>
          <a:prstGeom prst="rect">
            <a:avLst/>
          </a:prstGeom>
          <a:solidFill>
            <a:srgbClr val="162235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18688" y="3063240"/>
            <a:ext cx="2743200" cy="64008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10128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i="1" dirty="0">
                <a:solidFill>
                  <a:srgbClr val="E15759"/>
                </a:solidFill>
              </a:rPr>
              <a:t>n</a:t>
            </a:r>
            <a:endParaRPr lang="en-US" sz="3400" dirty="0"/>
          </a:p>
        </p:txBody>
      </p:sp>
      <p:sp>
        <p:nvSpPr>
          <p:cNvPr id="40" name="Shape 38"/>
          <p:cNvSpPr/>
          <p:nvPr/>
        </p:nvSpPr>
        <p:spPr>
          <a:xfrm>
            <a:off x="5093208" y="3200400"/>
            <a:ext cx="731520" cy="365760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93208" y="3200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20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995928" y="324612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C4D8"/>
                </a:solidFill>
              </a:rPr>
              <a:t>Number of Ants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995928" y="354787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D8B"/>
                </a:solidFill>
              </a:rPr>
              <a:t>Range: Fixed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310128" y="3867912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B8"/>
                </a:solidFill>
              </a:rPr>
              <a:t>Colony size. More ants = better exploration but higher computation time per iteration.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63056" y="3063240"/>
            <a:ext cx="2743200" cy="1737360"/>
          </a:xfrm>
          <a:prstGeom prst="rect">
            <a:avLst/>
          </a:prstGeom>
          <a:solidFill>
            <a:srgbClr val="162235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63056" y="3063240"/>
            <a:ext cx="2743200" cy="64008"/>
          </a:xfrm>
          <a:prstGeom prst="rect">
            <a:avLst/>
          </a:prstGeom>
          <a:solidFill>
            <a:srgbClr val="DEB887"/>
          </a:solidFill>
          <a:ln w="12700">
            <a:solidFill>
              <a:srgbClr val="DEB88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54496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i="1" dirty="0">
                <a:solidFill>
                  <a:srgbClr val="DEB887"/>
                </a:solidFill>
              </a:rPr>
              <a:t>e</a:t>
            </a:r>
            <a:endParaRPr lang="en-US" sz="3400" dirty="0"/>
          </a:p>
        </p:txBody>
      </p:sp>
      <p:sp>
        <p:nvSpPr>
          <p:cNvPr id="48" name="Shape 46"/>
          <p:cNvSpPr/>
          <p:nvPr/>
        </p:nvSpPr>
        <p:spPr>
          <a:xfrm>
            <a:off x="8037576" y="3200400"/>
            <a:ext cx="731520" cy="365760"/>
          </a:xfrm>
          <a:prstGeom prst="rect">
            <a:avLst/>
          </a:prstGeom>
          <a:solidFill>
            <a:srgbClr val="DEB887"/>
          </a:solidFill>
          <a:ln w="12700">
            <a:solidFill>
              <a:srgbClr val="DEB88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37576" y="3200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3×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940296" y="324612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C4D8"/>
                </a:solidFill>
              </a:rPr>
              <a:t>Elite Factor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940296" y="354787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D8B"/>
                </a:solidFill>
              </a:rPr>
              <a:t>Range: Fixed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254496" y="3867912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B8"/>
                </a:solidFill>
              </a:rPr>
              <a:t>Best solution receives 3× extra pheromone reinforcement to accelerate convergence.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74320" y="4754880"/>
            <a:ext cx="8595360" cy="310896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764024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200 Iterations × 20 Ants = 4,000 candidate tours evaluated per run  |  Best of 10 independent runs used as final solution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OPTIMIZED ROUTE RESULTS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1920240" cy="1371600"/>
          </a:xfrm>
          <a:prstGeom prst="rect">
            <a:avLst/>
          </a:prstGeom>
          <a:solidFill>
            <a:srgbClr val="F5FAFC"/>
          </a:solidFill>
          <a:ln w="12700">
            <a:solidFill>
              <a:srgbClr val="C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1920240" cy="6400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34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838F"/>
                </a:solidFill>
              </a:rPr>
              <a:t>3,847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4320" y="18105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units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06654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539"/>
                </a:solidFill>
              </a:rPr>
              <a:t>Best Route Distance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41448" y="1115568"/>
            <a:ext cx="1920240" cy="1371600"/>
          </a:xfrm>
          <a:prstGeom prst="rect">
            <a:avLst/>
          </a:prstGeom>
          <a:solidFill>
            <a:srgbClr val="F5FAFC"/>
          </a:solidFill>
          <a:ln w="12700">
            <a:solidFill>
              <a:srgbClr val="C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41448" y="1115568"/>
            <a:ext cx="1920240" cy="64008"/>
          </a:xfrm>
          <a:prstGeom prst="rect">
            <a:avLst/>
          </a:prstGeom>
          <a:solidFill>
            <a:srgbClr val="F7A440"/>
          </a:solidFill>
          <a:ln w="12700">
            <a:solidFill>
              <a:srgbClr val="F7A4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41448" y="1234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7A440"/>
                </a:solidFill>
              </a:rPr>
              <a:t>200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441448" y="18105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iters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41448" y="206654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539"/>
                </a:solidFill>
              </a:rPr>
              <a:t>Convergence Iterations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08576" y="1115568"/>
            <a:ext cx="1920240" cy="1371600"/>
          </a:xfrm>
          <a:prstGeom prst="rect">
            <a:avLst/>
          </a:prstGeom>
          <a:solidFill>
            <a:srgbClr val="F5FAFC"/>
          </a:solidFill>
          <a:ln w="12700">
            <a:solidFill>
              <a:srgbClr val="C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08576" y="1115568"/>
            <a:ext cx="19202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08576" y="1234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</a:rPr>
              <a:t>20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608576" y="18105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stops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08576" y="206654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539"/>
                </a:solidFill>
              </a:rPr>
              <a:t>Total Delivery Nodes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75704" y="1115568"/>
            <a:ext cx="1920240" cy="1371600"/>
          </a:xfrm>
          <a:prstGeom prst="rect">
            <a:avLst/>
          </a:prstGeom>
          <a:solidFill>
            <a:srgbClr val="F5FAFC"/>
          </a:solidFill>
          <a:ln w="12700">
            <a:solidFill>
              <a:srgbClr val="C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75704" y="1115568"/>
            <a:ext cx="1920240" cy="640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75704" y="1234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A4A"/>
                </a:solidFill>
              </a:rPr>
              <a:t>~2s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775704" y="18105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CPU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75704" y="206654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539"/>
                </a:solidFill>
              </a:rPr>
              <a:t>Computation Time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633472"/>
            <a:ext cx="5029200" cy="2331720"/>
          </a:xfrm>
          <a:prstGeom prst="rect">
            <a:avLst/>
          </a:prstGeom>
          <a:solidFill>
            <a:srgbClr val="F0F7FA"/>
          </a:solidFill>
          <a:ln w="12700">
            <a:solidFill>
              <a:srgbClr val="C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11480" y="26791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539"/>
                </a:solidFill>
              </a:rPr>
              <a:t>ACO Optimized Delivery Route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0" y="3090672"/>
            <a:ext cx="-914400" cy="201168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0" y="3291840"/>
            <a:ext cx="-731520" cy="36576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97280" y="3657600"/>
            <a:ext cx="274320" cy="59436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71600" y="4251960"/>
            <a:ext cx="914400" cy="45720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86000" y="4709160"/>
            <a:ext cx="914400" cy="13716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846320"/>
            <a:ext cx="914400" cy="-22860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0" y="4617720"/>
            <a:ext cx="640080" cy="-50292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4114800"/>
            <a:ext cx="-91440" cy="-73152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3383280"/>
            <a:ext cx="-822960" cy="-32004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0" y="3063240"/>
            <a:ext cx="-1097280" cy="27432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96896" y="2944368"/>
            <a:ext cx="292608" cy="292608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96896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682496" y="3145536"/>
            <a:ext cx="292608" cy="292608"/>
          </a:xfrm>
          <a:prstGeom prst="ellipse">
            <a:avLst/>
          </a:prstGeom>
          <a:solidFill>
            <a:srgbClr val="E1575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82496" y="3145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950976" y="3511296"/>
            <a:ext cx="292608" cy="292608"/>
          </a:xfrm>
          <a:prstGeom prst="ellipse">
            <a:avLst/>
          </a:prstGeom>
          <a:solidFill>
            <a:srgbClr val="E1575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50976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225296" y="4105656"/>
            <a:ext cx="292608" cy="292608"/>
          </a:xfrm>
          <a:prstGeom prst="ellipse">
            <a:avLst/>
          </a:prstGeom>
          <a:solidFill>
            <a:srgbClr val="F7A4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225296" y="4105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139696" y="4562856"/>
            <a:ext cx="292608" cy="292608"/>
          </a:xfrm>
          <a:prstGeom prst="ellipse">
            <a:avLst/>
          </a:prstGeom>
          <a:solidFill>
            <a:srgbClr val="59A1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139696" y="4562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054096" y="4700016"/>
            <a:ext cx="292608" cy="292608"/>
          </a:xfrm>
          <a:prstGeom prst="ellipse">
            <a:avLst/>
          </a:prstGeom>
          <a:solidFill>
            <a:srgbClr val="59A1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54096" y="4700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968496" y="4471416"/>
            <a:ext cx="292608" cy="292608"/>
          </a:xfrm>
          <a:prstGeom prst="ellipse">
            <a:avLst/>
          </a:prstGeom>
          <a:solidFill>
            <a:srgbClr val="F7A4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968496" y="4471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608576" y="3968496"/>
            <a:ext cx="292608" cy="292608"/>
          </a:xfrm>
          <a:prstGeom prst="ellipse">
            <a:avLst/>
          </a:prstGeom>
          <a:solidFill>
            <a:srgbClr val="E1575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08576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517136" y="3236976"/>
            <a:ext cx="292608" cy="292608"/>
          </a:xfrm>
          <a:prstGeom prst="ellipse">
            <a:avLst/>
          </a:prstGeom>
          <a:solidFill>
            <a:srgbClr val="F7A4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17136" y="3236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694176" y="2916936"/>
            <a:ext cx="292608" cy="292608"/>
          </a:xfrm>
          <a:prstGeom prst="ellipse">
            <a:avLst/>
          </a:prstGeom>
          <a:solidFill>
            <a:srgbClr val="59A1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94176" y="2916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9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11480" y="48463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★ Depot  ● High Priority  ● Medium  ● Low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486400" y="2633472"/>
            <a:ext cx="3383280" cy="2331720"/>
          </a:xfrm>
          <a:prstGeom prst="rect">
            <a:avLst/>
          </a:prstGeom>
          <a:solidFill>
            <a:srgbClr val="F5FAFC"/>
          </a:solidFill>
          <a:ln w="12700">
            <a:solidFill>
              <a:srgbClr val="C8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5577840" y="26791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539"/>
                </a:solidFill>
              </a:rPr>
              <a:t>Visit Sequence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623560" y="30358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38F"/>
                </a:solidFill>
              </a:rPr>
              <a:t>0 Central Depot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623560" y="32735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→ 19 Marzahn East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623560" y="35112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→ 15 Steglitz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623560" y="3749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→ 13 Lichtenberg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5623560" y="398678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→ 12 Pankow Ctr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623560" y="42245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→ 10 Spandau Gate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5623560" y="44622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→ 11 Reinickendorf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623560" y="47000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→ 3 Prenzlauer B.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623560" y="49377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→ ... (more stops)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5623560" y="517550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38F"/>
                </a:solidFill>
              </a:rPr>
              <a:t>→ 0 Central Depot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BENCHMARK COMPARISON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5029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394960" y="1143000"/>
            <a:ext cx="3474720" cy="1097280"/>
          </a:xfrm>
          <a:prstGeom prst="rect">
            <a:avLst/>
          </a:prstGeom>
          <a:solidFill>
            <a:srgbClr val="F5FAFC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394960" y="1143000"/>
            <a:ext cx="64008" cy="1097280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58968" y="1234440"/>
            <a:ext cx="640080" cy="640080"/>
          </a:xfrm>
          <a:prstGeom prst="ellipse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61872"/>
            <a:ext cx="585216" cy="5852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72200" y="12161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9"/>
                </a:solidFill>
              </a:rPr>
              <a:t>Random Search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172200" y="149047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5759"/>
                </a:solidFill>
              </a:rPr>
              <a:t>Distance: 4,800 units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172200" y="17099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Baseline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394960" y="2404872"/>
            <a:ext cx="3474720" cy="1097280"/>
          </a:xfrm>
          <a:prstGeom prst="rect">
            <a:avLst/>
          </a:prstGeom>
          <a:solidFill>
            <a:srgbClr val="F5FAFC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394960" y="2404872"/>
            <a:ext cx="64008" cy="1097280"/>
          </a:xfrm>
          <a:prstGeom prst="rect">
            <a:avLst/>
          </a:prstGeom>
          <a:solidFill>
            <a:srgbClr val="F7A440"/>
          </a:solidFill>
          <a:ln w="12700">
            <a:solidFill>
              <a:srgbClr val="F7A44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58968" y="2496312"/>
            <a:ext cx="640080" cy="640080"/>
          </a:xfrm>
          <a:prstGeom prst="ellipse">
            <a:avLst/>
          </a:prstGeom>
          <a:solidFill>
            <a:srgbClr val="F7A440"/>
          </a:solidFill>
          <a:ln w="12700">
            <a:solidFill>
              <a:srgbClr val="F7A44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523744"/>
            <a:ext cx="585216" cy="5852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72200" y="24780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9"/>
                </a:solidFill>
              </a:rPr>
              <a:t>Greedy (Nearest Neighbour)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172200" y="275234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A440"/>
                </a:solidFill>
              </a:rPr>
              <a:t>Distance: 4,150 units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172200" y="2971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13.5% better than Random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394960" y="3666744"/>
            <a:ext cx="3474720" cy="1097280"/>
          </a:xfrm>
          <a:prstGeom prst="rect">
            <a:avLst/>
          </a:prstGeom>
          <a:solidFill>
            <a:srgbClr val="F5FAFC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394960" y="3666744"/>
            <a:ext cx="64008" cy="10972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458968" y="3758184"/>
            <a:ext cx="640080" cy="64008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785616"/>
            <a:ext cx="585216" cy="58521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172200" y="37398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9"/>
                </a:solidFill>
              </a:rPr>
              <a:t>ACO (Our Solution)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172200" y="4014216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38F"/>
                </a:solidFill>
              </a:rPr>
              <a:t>Distance: 3,847 units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172200" y="42336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19.9% better than Random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7.3% better than Greedy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5394960" y="4736592"/>
            <a:ext cx="3474720" cy="3657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394960" y="47365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🏆  ACO achieves the BEST distance: 3,847 units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CONVERGENCE &amp; PERFORMANCE ANALYSIS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53035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06440" y="1097280"/>
            <a:ext cx="3063240" cy="3108960"/>
          </a:xfrm>
          <a:prstGeom prst="rect">
            <a:avLst/>
          </a:prstGeom>
          <a:solidFill>
            <a:srgbClr val="F5FAFC"/>
          </a:solidFill>
          <a:ln w="12700">
            <a:solidFill>
              <a:srgbClr val="CC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97880" y="116128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9"/>
                </a:solidFill>
              </a:rPr>
              <a:t>Key Findings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897880" y="1572768"/>
            <a:ext cx="256032" cy="256032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97880" y="1572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⚡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217920" y="1600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9"/>
                </a:solidFill>
              </a:rPr>
              <a:t>Rapid convergence in first 50 iterations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897880" y="1947672"/>
            <a:ext cx="256032" cy="256032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97880" y="1947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📉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19751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9"/>
                </a:solidFill>
              </a:rPr>
              <a:t>Best distance drops from ~6,200 → 3,847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897880" y="2322576"/>
            <a:ext cx="256032" cy="256032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97880" y="2322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🎯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217920" y="23500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9"/>
                </a:solidFill>
              </a:rPr>
              <a:t>Gap between best &amp; avg narrows over time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897880" y="2697480"/>
            <a:ext cx="256032" cy="256032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97880" y="2697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🔁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217920" y="27249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9"/>
                </a:solidFill>
              </a:rPr>
              <a:t>10 independent runs: std dev &lt; 50 units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897880" y="3072384"/>
            <a:ext cx="256032" cy="256032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97880" y="3072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✅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217920" y="30998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9"/>
                </a:solidFill>
              </a:rPr>
              <a:t>Stable convergence — no oscillation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897880" y="3447288"/>
            <a:ext cx="256032" cy="256032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97880" y="3447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⚙️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217920" y="34747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9"/>
                </a:solidFill>
              </a:rPr>
              <a:t>Elitist strategy accelerates early learning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274320" y="4315968"/>
            <a:ext cx="8595360" cy="694944"/>
          </a:xfrm>
          <a:prstGeom prst="rect">
            <a:avLst/>
          </a:prstGeom>
          <a:solidFill>
            <a:srgbClr val="F0F7FA"/>
          </a:solidFill>
          <a:ln w="12700">
            <a:solidFill>
              <a:srgbClr val="C8E6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4361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39"/>
                </a:solidFill>
              </a:rPr>
              <a:t>Multiple Run Analysis (10 Runs)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206240" y="43708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Best: 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709160" y="43708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38F"/>
                </a:solidFill>
              </a:rPr>
              <a:t>3,847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394960" y="43708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Average: 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897880" y="43708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38F"/>
                </a:solidFill>
              </a:rPr>
              <a:t>3,891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583680" y="43708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Std Dev: 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086600" y="43708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38F"/>
                </a:solidFill>
              </a:rPr>
              <a:t>±42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772400" y="43708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Worst: 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8275320" y="43708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38F"/>
                </a:solidFill>
              </a:rPr>
              <a:t>3,958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PARAMETER TUNING ANALYSIS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1097280"/>
          <a:ext cx="27889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3108960" y="1097280"/>
          <a:ext cx="27889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2" descr=""/>
          <p:cNvGraphicFramePr/>
          <p:nvPr/>
        </p:nvGraphicFramePr>
        <p:xfrm>
          <a:off x="6035040" y="1097280"/>
          <a:ext cx="27889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Shape 3"/>
          <p:cNvSpPr/>
          <p:nvPr/>
        </p:nvSpPr>
        <p:spPr>
          <a:xfrm>
            <a:off x="274320" y="3703320"/>
            <a:ext cx="8595360" cy="1325880"/>
          </a:xfrm>
          <a:prstGeom prst="rect">
            <a:avLst/>
          </a:prstGeom>
          <a:solidFill>
            <a:srgbClr val="F0F7FA"/>
          </a:solidFill>
          <a:ln w="12700">
            <a:solidFill>
              <a:srgbClr val="C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274320" y="3703320"/>
            <a:ext cx="73152" cy="13258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457200" y="37673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9"/>
                </a:solidFill>
              </a:rPr>
              <a:t>🏆  Best Configuration Found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457200" y="4133088"/>
            <a:ext cx="1828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45720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α (Alpha)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57200" y="44074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838F"/>
                </a:solidFill>
              </a:rPr>
              <a:t>1.0</a:t>
            </a:r>
            <a:endParaRPr lang="en-US" sz="2200" dirty="0"/>
          </a:p>
        </p:txBody>
      </p:sp>
      <p:sp>
        <p:nvSpPr>
          <p:cNvPr id="14" name="Shape 9"/>
          <p:cNvSpPr/>
          <p:nvPr/>
        </p:nvSpPr>
        <p:spPr>
          <a:xfrm>
            <a:off x="2560320" y="4133088"/>
            <a:ext cx="1828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256032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β (Beta)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2560320" y="44074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A440"/>
                </a:solidFill>
              </a:rPr>
              <a:t>3.0</a:t>
            </a:r>
            <a:endParaRPr lang="en-US" sz="2200" dirty="0"/>
          </a:p>
        </p:txBody>
      </p:sp>
      <p:sp>
        <p:nvSpPr>
          <p:cNvPr id="17" name="Shape 12"/>
          <p:cNvSpPr/>
          <p:nvPr/>
        </p:nvSpPr>
        <p:spPr>
          <a:xfrm>
            <a:off x="4663440" y="4133088"/>
            <a:ext cx="1828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466344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ρ (Rho)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663440" y="44074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0.5</a:t>
            </a:r>
            <a:endParaRPr lang="en-US" sz="2200" dirty="0"/>
          </a:p>
        </p:txBody>
      </p:sp>
      <p:sp>
        <p:nvSpPr>
          <p:cNvPr id="20" name="Shape 15"/>
          <p:cNvSpPr/>
          <p:nvPr/>
        </p:nvSpPr>
        <p:spPr>
          <a:xfrm>
            <a:off x="6766560" y="4133088"/>
            <a:ext cx="1828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676656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Best Distance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766560" y="44074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15759"/>
                </a:solidFill>
              </a:rPr>
              <a:t>3,847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ADVANCED FEATURES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88920" cy="3813048"/>
          </a:xfrm>
          <a:prstGeom prst="rect">
            <a:avLst/>
          </a:prstGeom>
          <a:solidFill>
            <a:srgbClr val="122032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788920" cy="64008"/>
          </a:xfrm>
          <a:prstGeom prst="rect">
            <a:avLst/>
          </a:prstGeom>
          <a:solidFill>
            <a:srgbClr val="F7A440"/>
          </a:solidFill>
          <a:ln w="12700">
            <a:solidFill>
              <a:srgbClr val="F7A4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44168" y="1261872"/>
            <a:ext cx="640080" cy="640080"/>
          </a:xfrm>
          <a:prstGeom prst="ellipse">
            <a:avLst/>
          </a:prstGeom>
          <a:solidFill>
            <a:srgbClr val="F7A440"/>
          </a:solidFill>
          <a:ln w="12700">
            <a:solidFill>
              <a:srgbClr val="F7A44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289304"/>
            <a:ext cx="585216" cy="5852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19933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A440"/>
                </a:solidFill>
              </a:rPr>
              <a:t>📦 Priority-Aware Routing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8912" y="2542032"/>
            <a:ext cx="137160" cy="137160"/>
          </a:xfrm>
          <a:prstGeom prst="ellipse">
            <a:avLst/>
          </a:prstGeom>
          <a:solidFill>
            <a:srgbClr val="F7A440"/>
          </a:solidFill>
          <a:ln w="12700">
            <a:solidFill>
              <a:srgbClr val="F7A44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50545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ACF"/>
                </a:solidFill>
              </a:rPr>
              <a:t>Smart scoring: distance × priority_weight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8912" y="2999232"/>
            <a:ext cx="137160" cy="137160"/>
          </a:xfrm>
          <a:prstGeom prst="ellipse">
            <a:avLst/>
          </a:prstGeom>
          <a:solidFill>
            <a:srgbClr val="F7A440"/>
          </a:solidFill>
          <a:ln w="12700">
            <a:solidFill>
              <a:srgbClr val="F7A44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296265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ACF"/>
                </a:solidFill>
              </a:rPr>
              <a:t>High Priority → 0.3× penalty (served first)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38912" y="3456432"/>
            <a:ext cx="137160" cy="137160"/>
          </a:xfrm>
          <a:prstGeom prst="ellipse">
            <a:avLst/>
          </a:prstGeom>
          <a:solidFill>
            <a:srgbClr val="F7A440"/>
          </a:solidFill>
          <a:ln w="12700">
            <a:solidFill>
              <a:srgbClr val="F7A44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341985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ACF"/>
                </a:solidFill>
              </a:rPr>
              <a:t>Medium Priority → 1.0× penalty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38912" y="3913632"/>
            <a:ext cx="137160" cy="137160"/>
          </a:xfrm>
          <a:prstGeom prst="ellipse">
            <a:avLst/>
          </a:prstGeom>
          <a:solidFill>
            <a:srgbClr val="F7A440"/>
          </a:solidFill>
          <a:ln w="12700">
            <a:solidFill>
              <a:srgbClr val="F7A44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387705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ACF"/>
                </a:solidFill>
              </a:rPr>
              <a:t>Low Priority → 2.5× penalty (served last)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38912" y="4370832"/>
            <a:ext cx="137160" cy="137160"/>
          </a:xfrm>
          <a:prstGeom prst="ellipse">
            <a:avLst/>
          </a:prstGeom>
          <a:solidFill>
            <a:srgbClr val="F7A440"/>
          </a:solidFill>
          <a:ln w="12700">
            <a:solidFill>
              <a:srgbClr val="F7A44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433425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ACF"/>
                </a:solidFill>
              </a:rPr>
              <a:t>Trade-off: +5.2% distance for full compliance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246120" y="1143000"/>
            <a:ext cx="2788920" cy="3813048"/>
          </a:xfrm>
          <a:prstGeom prst="rect">
            <a:avLst/>
          </a:prstGeom>
          <a:solidFill>
            <a:srgbClr val="122032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246120" y="1143000"/>
            <a:ext cx="2788920" cy="6400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315968" y="1261872"/>
            <a:ext cx="640080" cy="64008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289304"/>
            <a:ext cx="585216" cy="58521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337560" y="19933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38F"/>
                </a:solidFill>
              </a:rPr>
              <a:t>⏰ Time Window Validation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3410712" y="2542032"/>
            <a:ext cx="137160" cy="13716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611880" y="250545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ACF"/>
                </a:solidFill>
              </a:rPr>
              <a:t>Speed: 5 units/min + 5 min service time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3410712" y="2999232"/>
            <a:ext cx="137160" cy="13716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611880" y="296265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ACF"/>
                </a:solidFill>
              </a:rPr>
              <a:t>Each stop has a delivery time window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3410712" y="3456432"/>
            <a:ext cx="137160" cy="13716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611880" y="341985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ACF"/>
                </a:solidFill>
              </a:rPr>
              <a:t>Windows range: 06:00 to 18:00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3410712" y="3913632"/>
            <a:ext cx="137160" cy="13716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611880" y="387705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ACF"/>
                </a:solidFill>
              </a:rPr>
              <a:t>Compliance rate tracked per stop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3410712" y="4370832"/>
            <a:ext cx="137160" cy="13716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611880" y="433425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ACF"/>
                </a:solidFill>
              </a:rPr>
              <a:t>Wait time minimized via smart ordering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6217920" y="1143000"/>
            <a:ext cx="2788920" cy="3813048"/>
          </a:xfrm>
          <a:prstGeom prst="rect">
            <a:avLst/>
          </a:prstGeom>
          <a:solidFill>
            <a:srgbClr val="122032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6217920" y="1143000"/>
            <a:ext cx="278892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7287768" y="1261872"/>
            <a:ext cx="640080" cy="6400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289304"/>
            <a:ext cx="585216" cy="585216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309360" y="19933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🚚 Multi-Trip Capacity Planning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6382512" y="2542032"/>
            <a:ext cx="137160" cy="1371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583680" y="250545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ACF"/>
                </a:solidFill>
              </a:rPr>
              <a:t>Vehicle capacity: 100 kg per trip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6382512" y="2999232"/>
            <a:ext cx="137160" cy="1371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6583680" y="296265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ACF"/>
                </a:solidFill>
              </a:rPr>
              <a:t>Total demand: 175 kg across 20 nodes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6382512" y="3456432"/>
            <a:ext cx="137160" cy="1371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6583680" y="341985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ACF"/>
                </a:solidFill>
              </a:rPr>
              <a:t>Automatically splits into multiple trips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6382512" y="3913632"/>
            <a:ext cx="137160" cy="1371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6583680" y="387705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ACF"/>
                </a:solidFill>
              </a:rPr>
              <a:t>Trip load % calculated per stop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6382512" y="4370832"/>
            <a:ext cx="137160" cy="1371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6583680" y="433425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ACF"/>
                </a:solidFill>
              </a:rPr>
              <a:t>Load distribution optimized across trips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PHEROMONE EVOLUTION ANALYSIS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50292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86400" y="1097280"/>
            <a:ext cx="3383280" cy="3017520"/>
          </a:xfrm>
          <a:prstGeom prst="rect">
            <a:avLst/>
          </a:prstGeom>
          <a:solidFill>
            <a:srgbClr val="F5FAFC"/>
          </a:solidFill>
          <a:ln w="12700">
            <a:solidFill>
              <a:srgbClr val="C5E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577840" y="11612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9"/>
                </a:solidFill>
              </a:rPr>
              <a:t>What the Pheromone Matrix Tells Us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577840" y="1627632"/>
            <a:ext cx="45720" cy="5029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87568" y="1645920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539"/>
                </a:solidFill>
              </a:rPr>
              <a:t>Strong Path Emergence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687568" y="185623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Max pheromone grows 42× from iter 1→200, while avg grows only 2×. Best edges become dominant.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577840" y="2221992"/>
            <a:ext cx="45720" cy="5029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87568" y="2240280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539"/>
                </a:solidFill>
              </a:rPr>
              <a:t>Positive Feedback Loop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687568" y="245059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Ants reinforce good paths → more ants follow → even stronger reinforcement.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577840" y="2816352"/>
            <a:ext cx="45720" cy="5029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87568" y="2834640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539"/>
                </a:solidFill>
              </a:rPr>
              <a:t>Elitist Boost Visible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687568" y="304495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Best route edges show 3× higher pheromone levels than other visited edges.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577840" y="3410712"/>
            <a:ext cx="45720" cy="5029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87568" y="3429000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539"/>
                </a:solidFill>
              </a:rPr>
              <a:t>Heatmap Interpretation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687568" y="363931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Final pheromone matrix acts as a 'memory' of the best route discovered.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74320" y="4251960"/>
            <a:ext cx="8595360" cy="694944"/>
          </a:xfrm>
          <a:prstGeom prst="rect">
            <a:avLst/>
          </a:prstGeom>
          <a:solidFill>
            <a:srgbClr val="F0F7FA"/>
          </a:solidFill>
          <a:ln w="12700">
            <a:solidFill>
              <a:srgbClr val="CCE8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43159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39"/>
                </a:solidFill>
              </a:rPr>
              <a:t>Snapshot Iterations Captured: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834640" y="4343400"/>
            <a:ext cx="914400" cy="25603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834640" y="4343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Iter 1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840480" y="4343400"/>
            <a:ext cx="914400" cy="25603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40480" y="4343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Iter 10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846320" y="4343400"/>
            <a:ext cx="914400" cy="25603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46320" y="4343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Iter 25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852160" y="4343400"/>
            <a:ext cx="914400" cy="25603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52160" y="4343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Iter 50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858000" y="4343400"/>
            <a:ext cx="914400" cy="25603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858000" y="4343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Iter 100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7863840" y="4343400"/>
            <a:ext cx="914400" cy="25603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863840" y="4343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Iter 200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457200" y="462686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Higher resolution snapshots reveal pheromone concentration patterns as the algorithm learns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00838F">
              <a:alpha val="15000"/>
            </a:srgbClr>
          </a:solidFill>
          <a:ln w="12700">
            <a:solidFill>
              <a:srgbClr val="00838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200400"/>
            <a:ext cx="2743200" cy="2743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ACC1"/>
                </a:solidFill>
              </a:rPr>
              <a:t>CONCLUSIONS &amp; FUTURE WORK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1920240" cy="1051560"/>
          </a:xfrm>
          <a:prstGeom prst="rect">
            <a:avLst/>
          </a:prstGeom>
          <a:solidFill>
            <a:srgbClr val="162235"/>
          </a:solidFill>
          <a:ln w="12700">
            <a:solidFill>
              <a:srgbClr val="1D35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875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</a:rPr>
              <a:t>19.9%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CDD8"/>
                </a:solidFill>
              </a:rPr>
              <a:t>Better than Random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41448" y="914400"/>
            <a:ext cx="1920240" cy="1051560"/>
          </a:xfrm>
          <a:prstGeom prst="rect">
            <a:avLst/>
          </a:prstGeom>
          <a:solidFill>
            <a:srgbClr val="162235"/>
          </a:solidFill>
          <a:ln w="12700">
            <a:solidFill>
              <a:srgbClr val="1D35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41448" y="9875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</a:rPr>
              <a:t>7.3%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41448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CDD8"/>
                </a:solidFill>
              </a:rPr>
              <a:t>Better than Greedy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08576" y="914400"/>
            <a:ext cx="1920240" cy="1051560"/>
          </a:xfrm>
          <a:prstGeom prst="rect">
            <a:avLst/>
          </a:prstGeom>
          <a:solidFill>
            <a:srgbClr val="162235"/>
          </a:solidFill>
          <a:ln w="12700">
            <a:solidFill>
              <a:srgbClr val="1D3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9875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</a:rPr>
              <a:t>3,847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08576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CDD8"/>
                </a:solidFill>
              </a:rPr>
              <a:t>Best Distance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75704" y="914400"/>
            <a:ext cx="1920240" cy="1051560"/>
          </a:xfrm>
          <a:prstGeom prst="rect">
            <a:avLst/>
          </a:prstGeom>
          <a:solidFill>
            <a:srgbClr val="162235"/>
          </a:solidFill>
          <a:ln w="12700">
            <a:solidFill>
              <a:srgbClr val="1D3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75704" y="9875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</a:rPr>
              <a:t>100%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775704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CDD8"/>
                </a:solidFill>
              </a:rPr>
              <a:t>Scalable Design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103120"/>
            <a:ext cx="4160520" cy="2267712"/>
          </a:xfrm>
          <a:prstGeom prst="rect">
            <a:avLst/>
          </a:prstGeom>
          <a:solidFill>
            <a:srgbClr val="122032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103120"/>
            <a:ext cx="4160520" cy="6400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1762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38F"/>
                </a:solidFill>
              </a:rPr>
              <a:t>✅ Key Achievements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8912" y="2596896"/>
            <a:ext cx="118872" cy="118872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256032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ACF"/>
                </a:solidFill>
              </a:rPr>
              <a:t>ACO outperforms both Random Search and Greedy algorithms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8912" y="2990088"/>
            <a:ext cx="118872" cy="118872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295351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ACF"/>
                </a:solidFill>
              </a:rPr>
              <a:t>Best parameters: α=1.0, β=3.0, ρ=0.5 identified via tuning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" y="3383280"/>
            <a:ext cx="118872" cy="118872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3346704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ACF"/>
                </a:solidFill>
              </a:rPr>
              <a:t>Priority-aware routing maintains service level compliance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8912" y="3776472"/>
            <a:ext cx="118872" cy="118872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3739896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ACF"/>
                </a:solidFill>
              </a:rPr>
              <a:t>Multi-trip capacity planning handles real logistics constraints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8912" y="4169664"/>
            <a:ext cx="118872" cy="118872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413308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ACF"/>
                </a:solidFill>
              </a:rPr>
              <a:t>Pheromone evolution confirms effective learning behavior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2103120"/>
            <a:ext cx="4160520" cy="2267712"/>
          </a:xfrm>
          <a:prstGeom prst="rect">
            <a:avLst/>
          </a:prstGeom>
          <a:solidFill>
            <a:srgbClr val="122032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2103120"/>
            <a:ext cx="4160520" cy="64008"/>
          </a:xfrm>
          <a:prstGeom prst="rect">
            <a:avLst/>
          </a:prstGeom>
          <a:solidFill>
            <a:srgbClr val="F7A440"/>
          </a:solidFill>
          <a:ln w="12700">
            <a:solidFill>
              <a:srgbClr val="F7A4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1762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A440"/>
                </a:solidFill>
              </a:rPr>
              <a:t>🔮 Future Work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919472" y="2596896"/>
            <a:ext cx="118872" cy="118872"/>
          </a:xfrm>
          <a:prstGeom prst="ellipse">
            <a:avLst/>
          </a:prstGeom>
          <a:solidFill>
            <a:srgbClr val="F7A440"/>
          </a:solidFill>
          <a:ln w="12700">
            <a:solidFill>
              <a:srgbClr val="F7A4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02352" y="256032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ACF"/>
                </a:solidFill>
              </a:rPr>
              <a:t>Dynamic re-routing for real-time traffic updates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19472" y="2990088"/>
            <a:ext cx="118872" cy="118872"/>
          </a:xfrm>
          <a:prstGeom prst="ellipse">
            <a:avLst/>
          </a:prstGeom>
          <a:solidFill>
            <a:srgbClr val="F7A440"/>
          </a:solidFill>
          <a:ln w="12700">
            <a:solidFill>
              <a:srgbClr val="F7A4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02352" y="295351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ACF"/>
                </a:solidFill>
              </a:rPr>
              <a:t>Multi-vehicle fleet optimization (CVRP variant)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19472" y="3383280"/>
            <a:ext cx="118872" cy="118872"/>
          </a:xfrm>
          <a:prstGeom prst="ellipse">
            <a:avLst/>
          </a:prstGeom>
          <a:solidFill>
            <a:srgbClr val="F7A440"/>
          </a:solidFill>
          <a:ln w="12700">
            <a:solidFill>
              <a:srgbClr val="F7A4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02352" y="3346704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ACF"/>
                </a:solidFill>
              </a:rPr>
              <a:t>Integration with Google Maps live distance data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919472" y="3776472"/>
            <a:ext cx="118872" cy="118872"/>
          </a:xfrm>
          <a:prstGeom prst="ellipse">
            <a:avLst/>
          </a:prstGeom>
          <a:solidFill>
            <a:srgbClr val="F7A440"/>
          </a:solidFill>
          <a:ln w="12700">
            <a:solidFill>
              <a:srgbClr val="F7A4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02352" y="3739896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ACF"/>
                </a:solidFill>
              </a:rPr>
              <a:t>Hybrid ACO + Genetic Algorithm approach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919472" y="4169664"/>
            <a:ext cx="118872" cy="118872"/>
          </a:xfrm>
          <a:prstGeom prst="ellipse">
            <a:avLst/>
          </a:prstGeom>
          <a:solidFill>
            <a:srgbClr val="F7A440"/>
          </a:solidFill>
          <a:ln w="12700">
            <a:solidFill>
              <a:srgbClr val="F7A44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02352" y="413308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ACF"/>
                </a:solidFill>
              </a:rPr>
              <a:t>Scale to 100+ node delivery networks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74320" y="449884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Delivery Route Optimization using Ant Colony Optimization  |  TSPLIB Berlin52  |  Python Implementation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Delivery Route Optimization using ACO</dc:title>
  <dc:subject>PptxGenJS Presentation</dc:subject>
  <dc:creator>PptxGenJS</dc:creator>
  <cp:lastModifiedBy>PptxGenJS</cp:lastModifiedBy>
  <cp:revision>1</cp:revision>
  <dcterms:created xsi:type="dcterms:W3CDTF">2026-04-14T15:47:18Z</dcterms:created>
  <dcterms:modified xsi:type="dcterms:W3CDTF">2026-04-14T15:47:18Z</dcterms:modified>
</cp:coreProperties>
</file>